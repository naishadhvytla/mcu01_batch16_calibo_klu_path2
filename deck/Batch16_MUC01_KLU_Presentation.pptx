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arcellus" panose="020B0604020202020204" charset="0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Bold" panose="00000800000000000000" charset="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33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2186285"/>
            <a:ext cx="3699080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242939"/>
            <a:ext cx="40818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CALIBO AI ACADEMY | MUC01 |  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549029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CATEGORY PULSE</a:t>
            </a:r>
            <a:endParaRPr lang="en-US" sz="4250" dirty="0"/>
          </a:p>
        </p:txBody>
      </p:sp>
      <p:sp>
        <p:nvSpPr>
          <p:cNvPr id="6" name="Text 3"/>
          <p:cNvSpPr/>
          <p:nvPr/>
        </p:nvSpPr>
        <p:spPr>
          <a:xfrm>
            <a:off x="5233360" y="3331071"/>
            <a:ext cx="629686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Retail Product Performance EDA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233360" y="3967758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transaction data to supplier-review decisions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Batch-16: Naishadh Vytla · Nakul  Sriraj · Sushmitha · Adi Seshu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EDC67-099B-D23C-A175-FE0193FD9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109139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60541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BUSINESS QUESTION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SUPPLIER-REVIEW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106190"/>
            <a:ext cx="10868745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regional retail chain operates 12 stores across six Andhra Pradesh cities and five product categories. The Category Manager is entering a quarterly supplier review where suppliers will argue for shelf space and promotional investment.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3156" y="1396702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categories are growing or declining, which products drive category performance, and is the discount ladder actually working?"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1343620"/>
            <a:ext cx="12700" cy="198338"/>
          </a:xfrm>
          <a:prstGeom prst="roundRect">
            <a:avLst>
              <a:gd name="adj" fmla="val 49999"/>
            </a:avLst>
          </a:prstGeom>
          <a:solidFill>
            <a:srgbClr val="FF95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48123"/>
            <a:ext cx="5133355" cy="51334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487" y="3216729"/>
            <a:ext cx="5319083" cy="1183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CBIM framework anchors every analytical step to a single validated dataset and a clear supplier-review outcome.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36EBEC-01B8-F2B2-0073-7F5C7F6D8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923"/>
            <a:ext cx="1111222" cy="242292"/>
          </a:xfrm>
          <a:prstGeom prst="roundRect">
            <a:avLst>
              <a:gd name="adj" fmla="val 22117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119" y="603746"/>
            <a:ext cx="152951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1991"/>
            <a:ext cx="10868745" cy="59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SINGLE SOURCE OF TRUTH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729482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107,836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661475" y="2436416"/>
            <a:ext cx="5350237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1475" y="2815134"/>
            <a:ext cx="535023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Jan–Jun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9884" y="1729482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₹459.8M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6179884" y="2436416"/>
            <a:ext cx="5350336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9884" y="2815134"/>
            <a:ext cx="5350336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3354884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12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661475" y="4061817"/>
            <a:ext cx="5350237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Stores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1475" y="4440535"/>
            <a:ext cx="535023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6 cities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9884" y="3354884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6179884" y="4061817"/>
            <a:ext cx="5350336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9884" y="4440535"/>
            <a:ext cx="5350336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products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475" y="4917380"/>
            <a:ext cx="5239810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Quality Confirmed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1475" y="5349974"/>
            <a:ext cx="5239810" cy="905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missing values or duplicate transaction IDs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formula validated for 100% of rows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date coverage: Jan 1–Jun 30, 2026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validated DataFrame used for all downstream analysis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6760" y="4934148"/>
            <a:ext cx="5239810" cy="894655"/>
          </a:xfrm>
          <a:prstGeom prst="roundRect">
            <a:avLst>
              <a:gd name="adj" fmla="val 7487"/>
            </a:avLst>
          </a:prstGeom>
          <a:solidFill>
            <a:srgbClr val="FFE0C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01" y="5121275"/>
            <a:ext cx="199325" cy="15944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14967" y="5094982"/>
            <a:ext cx="456216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this matters: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Every chart and recommendation traces back to the same validated transaction-level dataset.</a:t>
            </a:r>
            <a:endParaRPr lang="en-US" sz="12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7FFD7F4-8CA3-438A-4A52-42364F214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137"/>
            <a:ext cx="1827663" cy="264616"/>
          </a:xfrm>
          <a:prstGeom prst="roundRect">
            <a:avLst>
              <a:gd name="adj" fmla="val 22126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5950" y="606326"/>
            <a:ext cx="2228298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SNAPSHOT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2948"/>
            <a:ext cx="10868745" cy="651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90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FIVE NUMBERS TELL THE STORY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1862138"/>
            <a:ext cx="3489039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₹459.8M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661475" y="2644775"/>
            <a:ext cx="34890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Revenue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3066752"/>
            <a:ext cx="3489039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six-month period analyzed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51229" y="1862138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−₹15.5M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351229" y="2644775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Change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351229" y="3066752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₹84.8M → Jun ₹69.3M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1082" y="1862138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−35%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8041082" y="2644775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Electronics Momentum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41082" y="3066752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₹45.7M → Jun ₹29.7M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06302" y="3692723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+34%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2506302" y="4475361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Apparel Momentum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506302" y="4897338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₹10.0M → Jun ₹13.5M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96155" y="3692723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2.58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6196155" y="4475361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Units Per Transaction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196155" y="4897338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Flat across 0% → 20% discount range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1475" y="5295602"/>
            <a:ext cx="10868745" cy="609898"/>
          </a:xfrm>
          <a:prstGeom prst="roundRect">
            <a:avLst>
              <a:gd name="adj" fmla="val 12000"/>
            </a:avLst>
          </a:prstGeom>
          <a:solidFill>
            <a:srgbClr val="FFE0C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99" y="5506045"/>
            <a:ext cx="217780" cy="1742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27702" y="5499795"/>
            <a:ext cx="10737879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pressure is concentrated, not broad-based.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1475" y="6086177"/>
            <a:ext cx="11478330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49586A5-21EE-7A16-34B0-61A6C0768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4474"/>
            <a:ext cx="909317" cy="161429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172" y="746323"/>
            <a:ext cx="1391508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PULSE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899815"/>
            <a:ext cx="10868745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0" spc="-2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ELECTRONICS IS THE REVENUE ENGINE — AND THE MAIN SOURCE OF DECLINE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4150"/>
            <a:ext cx="5304697" cy="3818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339854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31873" y="1446609"/>
            <a:ext cx="5304697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Trend: Electronics vs. Apparel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1873" y="1704975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declined </a:t>
            </a:r>
            <a:r>
              <a:rPr lang="en-US" sz="80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−35%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while Apparel grew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+34%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 the same period. The divergence is stark and consistent.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73" y="1988145"/>
            <a:ext cx="5304697" cy="3818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1873" y="5873849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Electronics: ₹226.5M — 49.3% of total chain revenue.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largest category is also the steepest decline.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56459B-7E9D-4728-EF46-088AFE300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948"/>
            <a:ext cx="1612860" cy="246856"/>
          </a:xfrm>
          <a:prstGeom prst="roundRect">
            <a:avLst>
              <a:gd name="adj" fmla="val 22110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715665"/>
            <a:ext cx="202758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OF DECLINE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9566"/>
            <a:ext cx="10868745" cy="60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kern="0" spc="-3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CHAIN DECLINE IS AN ELECTRONICS PROBLEM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43001"/>
            <a:ext cx="5236238" cy="37691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869087"/>
            <a:ext cx="5845823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0332" y="1925538"/>
            <a:ext cx="5236238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Contribution Change: Jan → Jun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0332" y="2368451"/>
            <a:ext cx="5236238" cy="11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alone lost </a:t>
            </a:r>
            <a:r>
              <a:rPr lang="en-US" sz="125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−₹16.0M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monthly revenue contribution — more than the chain's entire net decline of −₹15.5M.</a:t>
            </a:r>
            <a:endParaRPr lang="en-US" sz="12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Apparel's +₹3.4M gain and Personal Care's +₹0.1M partially offset the Electronics decline. Home &amp; Kitchen (−₹2.8M) and Grocery (−₹0.3M) contributed minor additional pressure.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332" y="3632299"/>
            <a:ext cx="5236238" cy="921147"/>
          </a:xfrm>
          <a:prstGeom prst="roundRect">
            <a:avLst>
              <a:gd name="adj" fmla="val 7406"/>
            </a:avLst>
          </a:prstGeom>
          <a:solidFill>
            <a:srgbClr val="FFE0C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49" y="3822601"/>
            <a:ext cx="202996" cy="162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28163" y="3798491"/>
            <a:ext cx="4545990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Other category growth partially offsets the Electronics decline, but not enough to prevent a net chain-wide monthly revenue drop.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E94175-3003-36C3-3250-D2E07DB1A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2691"/>
            <a:ext cx="1971427" cy="260152"/>
          </a:xfrm>
          <a:prstGeom prst="roundRect">
            <a:avLst>
              <a:gd name="adj" fmla="val 22124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4164" y="623987"/>
            <a:ext cx="237563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4854"/>
            <a:ext cx="10868745" cy="1280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DEAD SKU — THE SIGNAL IS AT CATEGORY LEVEL</a:t>
            </a:r>
            <a:endParaRPr lang="en-US" sz="3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8138"/>
          <a:ext cx="10868744" cy="2498068"/>
        </p:xfrm>
        <a:graphic>
          <a:graphicData uri="http://schemas.openxmlformats.org/drawingml/2006/table">
            <a:tbl>
              <a:tblPr/>
              <a:tblGrid>
                <a:gridCol w="239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Category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Top Product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Bottom Product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Gap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Electronics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Headphones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₹47.7M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Smart TV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₹41.9M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13.9%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Home &amp; Kitchen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Mixer Grinder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₹16.9M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Water Bottle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₹15.8M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6.8%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Apparel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Saree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₹14.2M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Kurta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₹13.6M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4.0%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Grocery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Rice (5kg)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Sugar (1kg)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₹8.4M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2.2%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2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Personal Care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Shampoo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₹8.2M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Sunscreen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₹7.6M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7.7%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093593"/>
            <a:ext cx="10868745" cy="804863"/>
          </a:xfrm>
          <a:prstGeom prst="roundRect">
            <a:avLst>
              <a:gd name="adj" fmla="val 8939"/>
            </a:avLst>
          </a:prstGeom>
          <a:solidFill>
            <a:srgbClr val="FFE0C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2" y="5294015"/>
            <a:ext cx="214109" cy="171252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218078" y="5291534"/>
            <a:ext cx="1014089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single product is dragging a category down. The actionable signal sits at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 level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a single SKU — supplier discussions should focus on category momentum, not individual product cuts.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6073080"/>
            <a:ext cx="11478330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735BA0-EC80-704A-6AED-3119AE473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849"/>
            <a:ext cx="1245759" cy="161429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172" y="571698"/>
            <a:ext cx="1727951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INTELLIGENCE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5190"/>
            <a:ext cx="10868745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0" spc="-2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DISCOUNTS BUY NO EXTRA VOLUME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79525"/>
            <a:ext cx="5304697" cy="3818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165229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31873" y="1271984"/>
            <a:ext cx="5304697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Average Revenue per Transaction by Discount Level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1873" y="1530350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per transaction falls </a:t>
            </a:r>
            <a:r>
              <a:rPr lang="en-US" sz="80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~22%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discounts deepen — from ₹4,686 at 0% to ₹3,632 at 20%.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73" y="1705570"/>
            <a:ext cx="5304697" cy="3818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1873" y="5591274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 per transaction remain essentially flat at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~2.58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all discount levels. The dataset shows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meaningful volume response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discounts deepen.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231873" y="5874445"/>
            <a:ext cx="5304697" cy="376436"/>
          </a:xfrm>
          <a:prstGeom prst="roundRect">
            <a:avLst>
              <a:gd name="adj" fmla="val 11863"/>
            </a:avLst>
          </a:prstGeom>
          <a:solidFill>
            <a:srgbClr val="FFE0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134" y="5960666"/>
            <a:ext cx="132851" cy="106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77245" y="5954713"/>
            <a:ext cx="485306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Caveat: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Transaction data shows association, not causation. Profitability cannot be evaluated without cost/margin data.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6DFD72-C7B9-1697-29CE-A99FCED4A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353"/>
            <a:ext cx="922711" cy="170458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8743" y="572988"/>
            <a:ext cx="1397759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TIMING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6402"/>
            <a:ext cx="108687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kern="0" spc="-25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DEMAND IS WEEKEND-DRIVEN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0623"/>
            <a:ext cx="5297454" cy="38131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218708"/>
            <a:ext cx="5907039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239116" y="1322288"/>
            <a:ext cx="529745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Day-of-Week Revenue Pattern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39116" y="1598513"/>
            <a:ext cx="529745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Saturday generates ~75% more revenue than Monday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(₹3.52M vs. ₹2.01M). Demand builds from Thursday, peaks Saturday, and softens into Sunday. Electronics follows the same weekend-skewed pattern as the chain.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16" y="2021979"/>
            <a:ext cx="5297454" cy="3813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9116" y="5910064"/>
            <a:ext cx="529745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implication: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Promotional timing should concentrate toward </a:t>
            </a: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Thu–Sun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relying on broad mid-week discounting. The monthly decline trend reinforces the urgency of category-level action.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F0FE49-3C06-CFBE-FE9E-3069B3531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0951"/>
            <a:ext cx="2370674" cy="251420"/>
          </a:xfrm>
          <a:prstGeom prst="roundRect">
            <a:avLst>
              <a:gd name="adj" fmla="val 22103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30560"/>
            <a:ext cx="278182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MANAGER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90216"/>
            <a:ext cx="10868745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kern="0" spc="-3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SUPPLIER REVIEW: WHAT WE WOULD TAKE INTO THE ROOM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43473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19" y="2727821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Back Apparel +34%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45819" y="3123605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category with sustained momentum. Jan ₹10.0M → Jun ₹13.5M. Prioritize shelf space and promotional investment.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8176" y="2543473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2520" y="2727821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Challenge Electronics −35%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52520" y="3123605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₹45.7M → ₹29.7M. −₹16.0M monthly revenue contribution change. Demand a recovery plan from the supplier.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855641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19" y="4039989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 Reconsider Mid-Week Discounting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45819" y="4435773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2.59 → 2.58 units per transaction across all discount levels. Discounts do not appear to increase volume.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8176" y="3855641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2520" y="4039989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4. Request Cost Data Before Final Decision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52520" y="4435773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Revenue-only analysis cannot establish profitability. Request category-level COGS/margin data and ideally footfall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9516" y="5348585"/>
            <a:ext cx="1123028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"THE DATA DOES NOT POINT TO A SKU-CUTTING PROBLEM. IT POINTS TO A CATEGORY MOMENTUM PROBLEM."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185866"/>
            <a:ext cx="19050" cy="526951"/>
          </a:xfrm>
          <a:prstGeom prst="roundRect">
            <a:avLst>
              <a:gd name="adj" fmla="val 49999"/>
            </a:avLst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875536"/>
            <a:ext cx="114783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Calibo AI Academy | MUC01 Category Intelligence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4A165C-C4FD-7702-EDA1-4F2F1FC88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926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Montserrat Bold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nakul sriraj</dc:creator>
  <cp:lastModifiedBy>Naishadh Vytla</cp:lastModifiedBy>
  <cp:revision>5</cp:revision>
  <dcterms:created xsi:type="dcterms:W3CDTF">2026-09-17T05:31:44Z</dcterms:created>
  <dcterms:modified xsi:type="dcterms:W3CDTF">2026-09-18T19:37:17Z</dcterms:modified>
</cp:coreProperties>
</file>